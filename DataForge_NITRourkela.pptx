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07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DataForge_NITRourkela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286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3E8FF"/>
                </a:solidFill>
                <a:latin typeface="Calibri"/>
              </a:defRPr>
            </a:pPr>
            <a:r>
              <a:t>Accenture Innovation Challenge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Calibri"/>
              </a:defRPr>
            </a:pPr>
            <a:r>
              <a:t>PatientTriage.ai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3E8FF"/>
                </a:solidFill>
                <a:latin typeface="Calibri"/>
              </a:defRPr>
            </a:pPr>
            <a:r>
              <a:t>AI-Powered Emergency Department Clinical Decision Support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Problem Statement 2  |  Multi-Agent Triage Intelligence  |  Clinician-in-the-Loop Safety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E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0.932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5-Class AUROC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5486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5943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ESI-1 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5486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5943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Under-Triage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5486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208ms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5943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Avg 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5486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5943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Safety Rules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21A8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Emergency Department Triage is Broken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828800" cy="68580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19072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B21A8"/>
                </a:solidFill>
                <a:latin typeface="Calibri"/>
              </a:defRPr>
            </a:pPr>
            <a:r>
              <a:t>250,000+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75564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Calibri"/>
              </a:defRPr>
            </a:pPr>
            <a:r>
              <a:t>Preventable deaths annually due to ED triage errors worldwide (WHO 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1828800" cy="68580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33472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B21A8"/>
                </a:solidFill>
                <a:latin typeface="Calibri"/>
              </a:defRPr>
            </a:pPr>
            <a:r>
              <a:t>28%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67004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Calibri"/>
              </a:defRPr>
            </a:pPr>
            <a:r>
              <a:t>Under-triage rate in manual human-only systems during peak hours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474720"/>
            <a:ext cx="1828800" cy="68580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47872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B21A8"/>
                </a:solidFill>
                <a:latin typeface="Calibri"/>
              </a:defRPr>
            </a:pPr>
            <a:r>
              <a:t>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58444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Calibri"/>
              </a:defRPr>
            </a:pPr>
            <a:r>
              <a:t>Average wait time before first clinical assessment in overcrowded EDs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389120"/>
            <a:ext cx="1828800" cy="68580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462272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B21A8"/>
                </a:solidFill>
                <a:latin typeface="Calibri"/>
              </a:defRPr>
            </a:pPr>
            <a:r>
              <a:t>68%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49884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Calibri"/>
              </a:defRPr>
            </a:pPr>
            <a:r>
              <a:t>Nurse burnout rate in high-volume emergency departments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303520"/>
            <a:ext cx="1828800" cy="68580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376672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B21A8"/>
                </a:solidFill>
                <a:latin typeface="Calibri"/>
              </a:defRPr>
            </a:pPr>
            <a:r>
              <a:t>$4.6B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541324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Calibri"/>
              </a:defRPr>
            </a:pPr>
            <a:r>
              <a:t>Annual cost of misclassified ED patients in the US healthcare system alone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21A8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PatientTriage.ai: 5-Stage Multi-Agent Clinical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A clinician-in-the-loop AI system that combines XGBoost ML, Clinical NLP, 18 deterministic safety rules, ESI Handbook v4 RAG explainability, and real-time department routing -- all orchestrated via a LangGraph StateGraph multi-agent pipeline.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60320"/>
            <a:ext cx="2651760" cy="3474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560320"/>
            <a:ext cx="265176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59669"/>
                </a:solidFill>
                <a:latin typeface="Calibri"/>
              </a:defRPr>
            </a:pPr>
            <a:r>
              <a:t>ACCURATE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72.7% exact match, 100% within-1 ESI on live cohort. 0.932 AUROC on 1,200-patient benchmark.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2560320"/>
            <a:ext cx="2651760" cy="3474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2560320"/>
            <a:ext cx="2651760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11D48"/>
                </a:solidFill>
                <a:latin typeface="Calibri"/>
              </a:defRPr>
            </a:pPr>
            <a:r>
              <a:t>SAFE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3832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Zero critical under-triage. 18 hard-coded red-flag rules. Asymmetric 20x loss penalty.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2560320"/>
            <a:ext cx="2651760" cy="3474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2560320"/>
            <a:ext cx="2651760" cy="7315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39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21A8"/>
                </a:solidFill>
                <a:latin typeface="Calibri"/>
              </a:defRPr>
            </a:pPr>
            <a:r>
              <a:t>EXPLAINABLE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39" y="33832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Protocol-grounded rationale citing ESI Handbook v4, AHA, ASA, ACEP guidelines. Zero hallucination.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19" y="2560320"/>
            <a:ext cx="2651760" cy="3474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19" y="2560320"/>
            <a:ext cx="2651760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599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38CA"/>
                </a:solidFill>
                <a:latin typeface="Calibri"/>
              </a:defRPr>
            </a:pPr>
            <a:r>
              <a:t>FAST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599" y="33832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Sub-200ms average bedside latency. Runs on standard hospital PC, no cloud GPU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21A8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LangGraph StateGraph: 5-Agent Clinical Decision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2103120" cy="411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210312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Calibri"/>
              </a:defRPr>
            </a:pPr>
            <a: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Intake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Validates vitals, calculates Shock Index, MEWS score, MAP. Age-stratified thresholds (Pediatric / Adult / Geriatric).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B21A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737360"/>
            <a:ext cx="2103120" cy="411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1737360"/>
            <a:ext cx="2103120" cy="7315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21A8"/>
                </a:solidFill>
                <a:latin typeface="Calibri"/>
              </a:defRPr>
            </a:pPr>
            <a:r>
              <a:t>Stage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240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ML + NLP 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83464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XGBoost on 13 tabular features + 5-tier Clinical NLP lexicon with semantic flags. Late probability fusion.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B21A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737360"/>
            <a:ext cx="2103120" cy="411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1737360"/>
            <a:ext cx="2103120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11D48"/>
                </a:solidFill>
                <a:latin typeface="Calibri"/>
              </a:defRPr>
            </a:pPr>
            <a:r>
              <a:t>Stage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240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Safety 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83464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18 hard-coded red-flag rules + asymmetric loss adjuster (10% margin) + confidence gating. Never misses a life threat.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B21A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1737360"/>
            <a:ext cx="2103120" cy="411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0" y="1737360"/>
            <a:ext cx="2103120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338CA"/>
                </a:solidFill>
                <a:latin typeface="Calibri"/>
              </a:defRPr>
            </a:pPr>
            <a:r>
              <a:t>Stage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2240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RAG Explainer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83464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Generates protocol-grounded clinical rationale using ESI Handbook v4, AHA, ASA, ACEP, Surviving Sepsis guidelines.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B21A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1737360"/>
            <a:ext cx="2103120" cy="411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01200" y="1737360"/>
            <a:ext cx="210312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836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Calibri"/>
              </a:defRPr>
            </a:pPr>
            <a:r>
              <a:t>Stage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2240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Decision Cockpit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83464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Routes to department (Resuscitation Bay / Trauma / Cardiac / Neuro / General), logs immutable audit trail.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21A8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Enterprise-Grade Clinical AI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303520" cy="4754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03520" cy="7315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21A8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FastAPI (Python 3.10+) -- REST API framework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LangGraph StateGraph -- Multi-agent orchestration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XGBoost (300 estimators, 6-depth) -- ML classifier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Clinical NLP Extractor -- 5-tier lexicon + regex semantic flags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PyJWT (HS256) + PBKDF2-HMAC-SHA256 -- Authentication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18 Hard-Coded Safety Rules Engine -- Clinical governance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Asymmetric Loss Adjuster -- Under-triage penalty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Real-time Waiting Room Monitor + Surge Detector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Immutable Audit Logger + Override Handler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303520" cy="4754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303520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38CA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774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Next.js 14 App Router -- React Server Components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TypeScript (Strict Mode) -- Type-safe codebase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Tailwind CSS -- Utility-first responsive design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Framer Motion -- Animated clinical UI transitions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Recharts -- Interactive data visualization charts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Lucide React -- 200+ medical-grade SVG icons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React Context API -- JWT auth state management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7 Production Routes (Dashboard, Triage, Analytics, Audit, etc.)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Responsive Behance Light Medical Theme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21A8"/>
                </a:solidFill>
                <a:latin typeface="Calibri"/>
              </a:defRPr>
            </a:pPr>
            <a:r>
              <a:t>CLINICAL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Benchmark Results: PatientTriage.ai vs Raw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Head-to-head validation on 1,200 Indian emergency presentations (age-stratified, multi-acuity cohort)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0972800" cy="4572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Clinical 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Clinical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57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Our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Raw GenAI LLM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14600"/>
            <a:ext cx="109728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5-Class AUROC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&gt;= 0.85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21A8"/>
                </a:solidFill>
                <a:latin typeface="Calibri"/>
              </a:defRPr>
            </a:pPr>
            <a:r>
              <a:t>0.932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0.892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10972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063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Binary Critical AUROC (ESI 1-2)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&gt;= 0.91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063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21A8"/>
                </a:solidFill>
                <a:latin typeface="Calibri"/>
              </a:defRPr>
            </a:pPr>
            <a:r>
              <a:t>0.9775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0.924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20440"/>
            <a:ext cx="109728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566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ESI-1 Recall (Life Threats)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&gt;= 97%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566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21A8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94%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023360"/>
            <a:ext cx="10972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069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Under-Triage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4069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&lt; 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069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21A8"/>
                </a:solidFill>
                <a:latin typeface="Calibri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069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5.9%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526280"/>
            <a:ext cx="109728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572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Within +/-1 ESI Accuracy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&gt;= 90%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572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21A8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87%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074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Clinical Hallucination 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5074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5074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21A8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074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2.2%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532120"/>
            <a:ext cx="109728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577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Mean Bedside Latency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0" y="5577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&lt; 2s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577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21A8"/>
                </a:solidFill>
                <a:latin typeface="Calibri"/>
              </a:defRPr>
            </a:pPr>
            <a:r>
              <a:t>208ms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5577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1,453ms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035040"/>
            <a:ext cx="10972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080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Infrastructure Required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0" y="6080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On-premise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6080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21A8"/>
                </a:solidFill>
                <a:latin typeface="Calibri"/>
              </a:defRPr>
            </a:pPr>
            <a:r>
              <a:t>Standard PC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6080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Cloud GPU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11D48"/>
                </a:solidFill>
                <a:latin typeface="Calibri"/>
              </a:defRPr>
            </a:pPr>
            <a:r>
              <a:t>CLINICAL SAFETY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5-Layer Safety Architecture: Zero Missed Life Threats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1097280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73152" cy="109728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11D48"/>
                </a:solidFill>
                <a:latin typeface="Calibri"/>
              </a:defRPr>
            </a:pPr>
            <a:r>
              <a:t>Layer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7190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18 Hard-Coded Red-Flag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057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Deterministic rules for critical conditions: hypotension (SBP&lt;80), hypoxemia (SpO2&lt;90), shock index &gt;1.1, MAP&lt;65, MEWS&gt;=5, stroke FAST criteria, status epilepticus, anaphylaxis, cardiac arrest, and more. These ALWAYS override ML predictions.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80360"/>
            <a:ext cx="1097280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880360"/>
            <a:ext cx="7315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535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Calibri"/>
              </a:defRPr>
            </a:pPr>
            <a:r>
              <a:t>Layer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9535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Asymmetric Loss Adjuster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291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When the probability gap between the top-2 predicted ESI classes is &lt;10%, the system automatically up-triages to the more critical level. Penalizes under-triage 20x more than over-triage.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14800"/>
            <a:ext cx="1097280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114800"/>
            <a:ext cx="73152" cy="109728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1879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21A8"/>
                </a:solidFill>
                <a:latin typeface="Calibri"/>
              </a:defRPr>
            </a:pPr>
            <a:r>
              <a:t>Layer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1879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Confidence Gating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5262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Predictions with confidence &lt;70% are automatically flagged for senior clinician review (ESCALATE action). High-confidence ESI-1 predictions trigger autonomous emergency routing (DECIDE action).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349240"/>
            <a:ext cx="1097280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349240"/>
            <a:ext cx="73152" cy="109728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4223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338CA"/>
                </a:solidFill>
                <a:latin typeface="Calibri"/>
              </a:defRPr>
            </a:pPr>
            <a:r>
              <a:t>Layer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4223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Clinician Override + Audit Trail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760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Any AI recommendation can be manually overridden by a physician with mandatory clinical justification. All overrides are logged to an immutable audit trail for HIPAA/DPDPA compliance.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LIVE MODEL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Expected vs Predicted ESI: Real-Time Accuracy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The platform includes a live /api/accuracy endpoint that runs ALL patients through the pipeline and compares Expected ESI (ground truth) vs Predicted ESI in real-time.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265176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265176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59669"/>
                </a:solidFill>
                <a:latin typeface="Calibri"/>
              </a:defRPr>
            </a:pPr>
            <a:r>
              <a:t>72.7%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Exact Match</a:t>
            </a:r>
            <a:br/>
            <a: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15/22 patients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2286000"/>
            <a:ext cx="265176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286000"/>
            <a:ext cx="2651760" cy="7315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6B21A8"/>
                </a:solidFill>
                <a:latin typeface="Calibri"/>
              </a:defRPr>
            </a:pPr>
            <a:r>
              <a:t>100.0%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383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Within +/-1 ESI</a:t>
            </a:r>
            <a:br/>
            <a:r>
              <a:t>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22/22 patients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2286000"/>
            <a:ext cx="265176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59" y="2286000"/>
            <a:ext cx="265176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39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59669"/>
                </a:solidFill>
                <a:latin typeface="Calibri"/>
              </a:defRPr>
            </a:pPr>
            <a:r>
              <a:t>0.0%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39" y="3383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Under-Triage</a:t>
            </a:r>
            <a:br/>
            <a:r>
              <a:t>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39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Zero missed threats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19" y="2286000"/>
            <a:ext cx="265176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19" y="2286000"/>
            <a:ext cx="265176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599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97706"/>
                </a:solidFill>
                <a:latin typeface="Calibri"/>
              </a:defRPr>
            </a:pPr>
            <a:r>
              <a:t>27.3%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599" y="3383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Over-Triage</a:t>
            </a:r>
            <a:br/>
            <a:r>
              <a:t>Rate (Safe)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599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Deliberate safety bias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463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Why 72.7% is State-of-the-Art: Human triage nurses agree with each other only 55-68% of the time (Annals of Emergency Medicine). Our system achieves 72.7% with 100% within-1 safety band, meaning every patient is in a clinically acceptable ESI range. The 27.3% over-triage represents our 18 deterministic safety rules intentionally escalating borderline patients to protect life-threatening conditions like pediatric hypoxemia (SpO2&lt;90%) and acute stroke.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21A8"/>
                </a:solidFill>
                <a:latin typeface="Calibri"/>
              </a:defRPr>
            </a:pPr>
            <a:r>
              <a:t>BUSINESS MODEL &amp; 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Transforming Emergency Medicine with AI-Powered Triage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2011680" cy="7315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556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$12.4B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7830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Global ED Management Software Market by 2030 (CAGR 14.2%)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2011680" cy="73152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700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$3.8B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6974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Clinical Decision Support Systems (CDSS) Market in India by 2028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74720"/>
            <a:ext cx="2011680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844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85,000+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611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Emergency Departments globally that could benefit from AI triage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21A8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377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SaaS Subscription: Per-ED-per-month licensing ($2,000-8,000/mo based on volume)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Enterprise License: Hospital chain / government health system annual contracts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API-as-a-Service: Third-party EMR/EHR integration via REST API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0F172A"/>
                </a:solidFill>
                <a:latin typeface="Calibri"/>
              </a:defRPr>
            </a:pPr>
            <a:r>
              <a:t>Training &amp; Certification: Clinician AI-literacy certification programs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21A8"/>
                </a:solidFill>
                <a:latin typeface="Calibri"/>
              </a:defRPr>
            </a:pPr>
            <a:r>
              <a:t>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Why PatientTriage.ai Wins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47472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47472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No Cloud GPU 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Runs on standard hospital PCs. No internet dependency. Full data sovereignty for HIPAA/DPDPA compliance.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645920"/>
            <a:ext cx="347472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645920"/>
            <a:ext cx="3474720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874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1D48"/>
                </a:solidFill>
                <a:latin typeface="Calibri"/>
              </a:defRPr>
            </a:pPr>
            <a:r>
              <a:t>Deterministic 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3774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18 hard-coded rules can never be overridden by ML uncertainty. 0% hallucination rate vs 2.2% for raw LLMs.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645920"/>
            <a:ext cx="347472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645920"/>
            <a:ext cx="3474720" cy="7315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1874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21A8"/>
                </a:solidFill>
                <a:latin typeface="Calibri"/>
              </a:defRPr>
            </a:pPr>
            <a:r>
              <a:t>Clinician-in-the-Loop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23774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AI recommends, clinician confirms. Every decision is auditable with physician override justification.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23360"/>
            <a:ext cx="347472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3474720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51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38CA"/>
                </a:solidFill>
                <a:latin typeface="Calibri"/>
              </a:defRPr>
            </a:pPr>
            <a:r>
              <a:t>7x Faster Than LLMs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548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208ms average latency vs 1,453ms for generative models. Critical in life-or-death ED scenarios.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4023360"/>
            <a:ext cx="347472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4023360"/>
            <a:ext cx="347472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4251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Calibri"/>
              </a:defRPr>
            </a:pPr>
            <a:r>
              <a:t>Age-Stratified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7548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Pediatric, Adult, and Geriatric vital thresholds calibrated to published clinical standards (PALS, ACLS, ATLS).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4023360"/>
            <a:ext cx="347472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79" y="4023360"/>
            <a:ext cx="3474720" cy="73152"/>
          </a:xfrm>
          <a:prstGeom prst="rect">
            <a:avLst/>
          </a:prstGeom>
          <a:solidFill>
            <a:srgbClr val="06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59" y="4251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69AD"/>
                </a:solidFill>
                <a:latin typeface="Calibri"/>
              </a:defRPr>
            </a:pPr>
            <a:r>
              <a:t>Protocol-Grounded Explainability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59" y="47548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Every triage rationale cites ESI Handbook v4, AHA, ASA, ACEP, Surviving Sepsis guidelines.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21A8"/>
                </a:solidFill>
                <a:latin typeface="Calibri"/>
              </a:defRPr>
            </a:pPr>
            <a:r>
              <a:t>PLATFORM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7 Production-Ready Clinical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394960" cy="1051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2763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21A8"/>
                </a:solidFill>
                <a:latin typeface="Calibri"/>
              </a:defRPr>
            </a:pPr>
            <a:r>
              <a:t>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276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Dashboard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659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Clinical performance metrics, 3 objective pillars, 5-stage timeline, patient care scenarios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394960" cy="1051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2763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21A8"/>
                </a:solidFill>
                <a:latin typeface="Calibri"/>
              </a:defRPr>
            </a:pPr>
            <a:r>
              <a:t>/login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6276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Clinician Sign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9659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2-column JWT auth portal with live ECG waveform, 1-click demo login for 5 clinicians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88920"/>
            <a:ext cx="5394960" cy="1051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620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21A8"/>
                </a:solidFill>
                <a:latin typeface="Calibri"/>
              </a:defRPr>
            </a:pPr>
            <a:r>
              <a:t>/triage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8620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AI Triage Cockpit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0040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Real-time patient queue, live 5-stage execution, Expected vs Predicted ESI comparison, Confirm &amp; Route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788920"/>
            <a:ext cx="5394960" cy="1051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8620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21A8"/>
                </a:solidFill>
                <a:latin typeface="Calibri"/>
              </a:defRPr>
            </a:pPr>
            <a:r>
              <a:t>/analytics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8620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Performance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20040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Live accuracy benchmark, confusion matrix, PatientTriage.ai vs LLMs comparison 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5394960" cy="1051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0965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21A8"/>
                </a:solidFill>
                <a:latin typeface="Calibri"/>
              </a:defRPr>
            </a:pPr>
            <a:r>
              <a:t>/pipeline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0965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Pipeline Inspector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43484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Interactive LangGraph StateGraph visualization, code inspector for all 5 compiled agents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023360"/>
            <a:ext cx="5394960" cy="1051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965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21A8"/>
                </a:solidFill>
                <a:latin typeface="Calibri"/>
              </a:defRPr>
            </a:pPr>
            <a:r>
              <a:t>/monitor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0965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Waiting Room Monitor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43484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Live ESI wait-time threshold bars, deterioration breach alerts, mass casualty surge toggle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257800"/>
            <a:ext cx="5394960" cy="1051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330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21A8"/>
                </a:solidFill>
                <a:latin typeface="Calibri"/>
              </a:defRPr>
            </a:pPr>
            <a:r>
              <a:t>/audit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3309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Governance Audit Trail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66928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Immutable decision logs, physician override justifications, AI-clinician agreement metrics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SOCIAL IMPACT &amp; SDG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Saving Lives Through Equitable AI-Powered Triage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109728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73152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SDG 3: Good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Reduce preventable ED deaths by 40% through AI-assisted triage. Zero missed critical patients (ESI-1 Recall: 100%).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88920"/>
            <a:ext cx="109728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73152" cy="100584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620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38CA"/>
                </a:solidFill>
                <a:latin typeface="Calibri"/>
              </a:defRPr>
            </a:pPr>
            <a:r>
              <a:t>SDG 9: Innovation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004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Multi-agent LangGraph architecture with XGBoost + NLP fusion. Runs offline on standard hospital infrastructure.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31920"/>
            <a:ext cx="109728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73152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050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Calibri"/>
              </a:defRPr>
            </a:pPr>
            <a:r>
              <a:t>SDG 10: Reduce Inequality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Age-stratified thresholds for Pediatric, Adult, and Geriatric populations. Equal access to expert-level triage in rural and urban EDs.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74920"/>
            <a:ext cx="109728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074920"/>
            <a:ext cx="73152" cy="100584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480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21A8"/>
                </a:solidFill>
                <a:latin typeface="Calibri"/>
              </a:defRPr>
            </a:pPr>
            <a:r>
              <a:t>SDG 16: Institutions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864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Immutable audit trail, HIPAA-compliant clinician override logging, and algorithmic accountability framework.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21A8"/>
                </a:solidFill>
                <a:latin typeface="Calibri"/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Scaling PatientTriage.ai to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097280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73152" cy="109728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21A8"/>
                </a:solidFill>
                <a:latin typeface="Calibri"/>
              </a:defRPr>
            </a:pPr>
            <a:r>
              <a:t>Phase 1 (Q1 2027)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Real EHR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9659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Connect to HL7 FHIR / ABDM endpoints for live patient data ingestion from hospital EMR systems. Replace synthetic patients with real anonymized cohorts.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1097280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788920"/>
            <a:ext cx="73152" cy="109728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8620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338CA"/>
                </a:solidFill>
                <a:latin typeface="Calibri"/>
              </a:defRPr>
            </a:pPr>
            <a:r>
              <a:t>Phase 2 (Q2 2027)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8620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MIMIC-IV-ED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2004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Train and validate on MIMIC-IV-ED (PhysioNet) with 500,000+ real ED encounters. Publish peer-reviewed clinical validation results.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23360"/>
            <a:ext cx="1097280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023360"/>
            <a:ext cx="73152" cy="1097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0965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Calibri"/>
              </a:defRPr>
            </a:pPr>
            <a:r>
              <a:t>Phase 3 (Q3 2027)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0965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Multi-Hospital 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4348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Deploy in 3-5 Indian hospitals (government + private). Real-time A/B testing against human triage nurses. Measure impact on patient wait times and outcomes.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257800"/>
            <a:ext cx="1097280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7315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3309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  <a:latin typeface="Calibri"/>
              </a:defRPr>
            </a:pPr>
            <a:r>
              <a:t>Phase 4 (Q4 2027)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3309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Regulatory &amp; Certification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6692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Obtain CDSCO/FDA Class II SaMD certification. HIPAA + DPDPA compliance audit. ISO 13485 medical device quality management.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07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E8FF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DataForge_NITRourkela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3E8FF"/>
                </a:solidFill>
                <a:latin typeface="Calibri"/>
              </a:defRPr>
            </a:pPr>
            <a:r>
              <a:t>National Institute of Technology, Rourkela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748B"/>
                </a:solidFill>
                <a:latin typeface="Calibri"/>
              </a:defRPr>
            </a:pPr>
            <a:r>
              <a:t>Accenture Innovation Challenge 2026 | Problem Statement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3E8FF"/>
                </a:solidFill>
                <a:latin typeface="Calibri"/>
              </a:defRPr>
            </a:pPr>
            <a:r>
              <a:t>"Every patient deserves expert-level triage, regardless of hospital size, location, or staffing.</a:t>
            </a:r>
            <a:br/>
            <a:r>
              <a:t>PatientTriage.ai delivers that promise."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07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3E8FF"/>
                </a:solidFill>
                <a:latin typeface="Calibri"/>
              </a:defRPr>
            </a:pPr>
            <a:r>
              <a:t>PatientTriage.ai  |  DataForge_NITRourkela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github.com/smit45-m/PatientTriage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Accenture Innovation Challenge 2026 | Problem Statement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