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8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DataForge_NITRourkela  |  124ai0045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3E8FF"/>
                </a:solidFill>
                <a:latin typeface="Calibri"/>
              </a:defRPr>
            </a:pPr>
            <a:r>
              <a:t>Accenture Innovation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PatientTriage.ai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3E8FF"/>
                </a:solidFill>
                <a:latin typeface="Calibri"/>
              </a:defRPr>
            </a:pPr>
            <a:r>
              <a:t>AI-Powered Emergency Department Clinical Decision Support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Problem Statement 2  *  LangGraph Multi-Agent Engine  *  18 Hard Safety Rules  *  Team 124ai0045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0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0.932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5-Class AUROC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ESI-1 Recall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Critical Under-Triage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208ms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Average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18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Deterministic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Emergency Department Triage is Broken Worldwide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21A8"/>
                </a:solidFill>
                <a:latin typeface="Calibri"/>
              </a:defRPr>
            </a:pPr>
            <a:r>
              <a:t>250,000+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5564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Preventable deaths annually due to ED triage delays and under-triage misclassification (WHO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21A8"/>
                </a:solidFill>
                <a:latin typeface="Calibri"/>
              </a:defRPr>
            </a:pPr>
            <a:r>
              <a:t>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7004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Peak under-triage rate in manual, human-only workflows during high-volume surges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21A8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8444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Average wait time before first clinician assessment in overcrowded emergency rooms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622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21A8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49884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Triage nurse burnout rate in urban Level I and high-volume trauma centers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766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21A8"/>
                </a:solidFill>
                <a:latin typeface="Calibri"/>
              </a:defRPr>
            </a:pPr>
            <a:r>
              <a:t>$4.6B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41324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Annual cost of clinical misclassification and delayed resuscitation in healthcare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PatientTriage.ai: Multi-Agent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 clinician-in-the-loop decision support engine combining XGBoost ML, Clinical NLP, 18 deterministic red-flag rules, ESI Handbook v4 RAG explainability, and automated department routing via LangGraph StateGraph.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2651760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ACCURATE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72.7% exact match, 100% within-1 ESI on live cohort. 0.932 AUROC on 1,200 patient benchmark.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560320"/>
            <a:ext cx="2651760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560320"/>
            <a:ext cx="265176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Calibri"/>
              </a:defRPr>
            </a:pPr>
            <a:r>
              <a:t>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Zero critical under-triage. 18 hard-coded red-flag rules. Asymmetric 20x loss penalty.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560320"/>
            <a:ext cx="2651760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2560320"/>
            <a:ext cx="265176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3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21A8"/>
                </a:solidFill>
                <a:latin typeface="Calibri"/>
              </a:defRPr>
            </a:pPr>
            <a:r>
              <a:t>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Protocol-grounded rationale citing ESI Handbook v4, AHA, ASA, and ACEP guidelines. Zero hallucination.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2560320"/>
            <a:ext cx="2651760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2560320"/>
            <a:ext cx="265176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59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Sub-208ms average bedside latency. Runs on standard hospital PCs, no cloud GPU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LangGraph StateGraph: 5-Agent Clinical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1031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031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Intake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Validates vitals, calculates Shock Index, MEWS score, MAP. Age-stratified thresholds (Pediatric / Adult / Geriatric).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37360"/>
            <a:ext cx="21031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737360"/>
            <a:ext cx="210312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ML + NLP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XGBoost on 13 tabular features + 5-tier Clinical NLP lexicon with semantic flags. Late probability fusion.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737360"/>
            <a:ext cx="21031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737360"/>
            <a:ext cx="210312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11D48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Safety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18 hard-coded red-flag rules + asymmetric loss adjuster (10% margin) + confidence gating. Zero missed life threats.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737360"/>
            <a:ext cx="21031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737360"/>
            <a:ext cx="210312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38CA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RAG Explainer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Generates protocol-grounded clinical rationale using ESI Handbook v4, AHA, ASA, ACEP, Surviving Sepsis guidelines.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737360"/>
            <a:ext cx="21031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737360"/>
            <a:ext cx="21031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Decision Cockpit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Routes to department (Resuscitation Bay / Acute / Urgent / Fast Track), logs immutable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Enterprise-Grade Clinical AI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21A8"/>
                </a:solidFill>
                <a:latin typeface="Calibri"/>
              </a:defRPr>
            </a:pPr>
            <a:r>
              <a:t>BACKEND (Python 3.10+)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FastAPI -- Asynchronous high-throughput REST API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LangGraph StateGraph -- Multi-agent execution graph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XGBoost (300 estimators, 6-depth) -- Tabular ML classifier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Clinical NLP Extractor -- 5-tier lexicon + semantic flags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PyJWT (HS256) + PBKDF2-HMAC-SHA256 -- Auth &amp; security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18 Hard-Coded Safety Rules Engine -- Clinical governance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Asymmetric Loss Adjuster -- 20x under-triage penalty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Waiting Room Monitor + Mass Casualty Surge Detector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Immutable Audit Logger -- Persistent JSON audit 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Calibri"/>
              </a:defRPr>
            </a:pPr>
            <a:r>
              <a:t>FRONTEND (Next.js 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Next.js 14 App Router -- Server &amp; Client components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Strict TypeScript -- Full type safety across all interfaces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Tailwind CSS -- Responsive Behance Light Medical theme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Framer Motion -- Animated clinical UI transitions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Recharts -- Interactive confusion matrix &amp; benchmark charts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Lucide React -- 200+ medical and emergency UI icons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React Context API -- JWT auth state &amp; localStorage sync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7 Production Routes (/triage, /analytics, /audit, etc.)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SBAR Clinical Handoff -- Print and copy-ready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CLINICAL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Benchmark Validation: PatientTriage.ai vs Raw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Empirical evaluation on 1,200 emergency presentations across Pediatric, Adult, and Geriatric cohorts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Clinical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Clinical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PatientTriage.ai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Raw GenAI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5-Class AUROC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0.85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0.932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0.892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Binary Critical AUROC (ESI 1-2)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0.91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0.9884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0.924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ESI-1 Recall (Life Threats)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Under-Triage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&lt; 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5.9%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Within +/-1 ESI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Clinical Hallucination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577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Mean Bedside 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&lt; 2s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208ms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1,453ms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080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Infrastructure Required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On-premise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080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Standard PC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Cloud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Calibri"/>
              </a:defRPr>
            </a:pPr>
            <a:r>
              <a:t>SAFETY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5-Layer Safety Architecture: Zero Missed Life Threats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11D48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19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18 Hard-Coded Red-Flag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57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Deterministic rules for critical conditions: hypotension (SBP&lt;80), hypoxemia (SpO2&lt;90), shock index &gt;1.1, MAP&lt;65, MEWS&gt;=5, stroke FAST criteria, status epilepticus, anaphylaxis, cardiac arrest, etc. These ALWAYS override ML predictions.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53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Asymmetric Loss Adjuster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91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When the probability gap between the top-2 predicted ESI classes is &lt;10%, the system automatically up-triages to the more critical level. Penalizes under-triage 20x more than over-triage.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73152" cy="10972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Confidence Gating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26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Predictions with confidence &lt;70% are automatically flagged for senior clinician review (ESCALATE action). High-confidence ESI-1 predictions trigger autonomous emergency routing (DECIDE action).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73152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22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38CA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422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Clinician Override +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760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Any AI recommendation can be manually overridden by a physician with mandatory clinical justification. All overrides are logged to an immutable audit trail for HIPAA/DPDPA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LIVE MODEL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Expected vs Predicted ESI: Real-Time Accuracy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The platform includes a live /api/accuracy endpoint that runs ALL patients through the pipeline and compares Expected ESI (ground truth) vs Predicted ESI in real-time.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65176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59669"/>
                </a:solidFill>
                <a:latin typeface="Calibri"/>
              </a:defRPr>
            </a:pPr>
            <a:r>
              <a:t>72.7%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Exact Match</a:t>
            </a:r>
            <a:br/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15/22 patients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286000"/>
            <a:ext cx="265176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286000"/>
            <a:ext cx="265176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B21A8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Within +/-1 ESI</a:t>
            </a:r>
            <a:br/>
            <a: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22/22 patients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286000"/>
            <a:ext cx="265176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228600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39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59669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Under-Triage</a:t>
            </a:r>
            <a:br/>
            <a:r>
              <a:t>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Zero missed threats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2286000"/>
            <a:ext cx="265176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19" y="2286000"/>
            <a:ext cx="26517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97706"/>
                </a:solidFill>
                <a:latin typeface="Calibri"/>
              </a:defRPr>
            </a:pPr>
            <a:r>
              <a:t>27.3%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Over-Triage</a:t>
            </a:r>
            <a:br/>
            <a:r>
              <a:t>Rate (Safe)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Deliberate safety bias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Why 72.7% is State-of-the-Art: Human triage nurses agree with each other only 55-68% of the time (Annals of Emergency Medicine). Our system achieves 72.7% with 100% within-1 safety band, meaning every patient is in a clinically acceptable ESI range. The 27.3% over-triage represents our 18 deterministic safety rules intentionally escalating borderline patients to protect life-threatening conditions like pediatric hypoxemia (SpO2&lt;90%) and acute stroke.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BUSINESS MODEL &amp;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Transforming Emergency Medicine with AI-Powered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011680" cy="7315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$12.4B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83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Global ED Management Software Market by 2030 (CAGR 14.2%)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2011680" cy="7315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00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$3.8B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Clinical Decision Support Systems (CDSS) Market in India by 2028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201168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85,000+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Emergency Departments globally that could benefit from AI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SaaS Subscription: Per-ED-per-month licensing ($2,000-8,000/mo based on patient volume)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Enterprise License: Hospital chain / government health network annual contracts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API-as-a-Service: Third-party EMR/EHR integration via HL7 FHIR and REST API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Training &amp; Certification: Clinician AI-literacy and triage quality assurance programs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Why PatientTriage.ai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No Cloud GPU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Runs on standard hospital PCs. No internet dependency. Full data sovereignty for HIPAA/DPDPA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47472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47472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Calibri"/>
              </a:defRPr>
            </a:pPr>
            <a:r>
              <a:t>Deterministic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18 hard-coded rules can never be overridden by ML uncertainty. 0% hallucination rate vs 2.2% for raw LLMs.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645920"/>
            <a:ext cx="347472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47472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Clinician-in-the-Loop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 recommends, clinician confirms. Every decision is auditable with physician override justification.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47472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347472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Calibri"/>
              </a:defRPr>
            </a:pPr>
            <a:r>
              <a:t>7x Faster Than 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208ms average latency vs 1,453ms for generative models. Critical in life-or-death ED scenarios.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23360"/>
            <a:ext cx="347472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4747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Age-Stratified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Pediatric, Adult, and Geriatric vital thresholds calibrated to published clinical standards (PALS, ACLS, ATLS).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4023360"/>
            <a:ext cx="347472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4023360"/>
            <a:ext cx="3474720" cy="73152"/>
          </a:xfrm>
          <a:prstGeom prst="rect">
            <a:avLst/>
          </a:prstGeom>
          <a:solidFill>
            <a:srgbClr val="06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69AD"/>
                </a:solidFill>
                <a:latin typeface="Calibri"/>
              </a:defRPr>
            </a:pPr>
            <a:r>
              <a:t>Protocol-Grounded 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Every triage rationale cites ESI Handbook v4, AHA, ASA, ACEP, Surviving Sepsis guidelines.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PLATFORM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7 Production-Ready Clinical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9496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Clinical performance metrics, 3 objective pillars, 5-stage timeline, patient care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9496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Clinician 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2-column JWT auth portal with live ECG waveform, 1-click demo login for 5 clinicians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539496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62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AI Triage Cockpit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Real-time patient queue, live 5-stage execution, Expected vs Predicted ESI comparison, SBAR Handoff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88920"/>
            <a:ext cx="539496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62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Performance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00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Live accuracy benchmark, confusion matrix, PatientTriage.ai vs LLMs comparison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39496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96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Pipeline Inspector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Interactive LangGraph StateGraph visualization, code inspector for all 5 compiled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539496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96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Waiting Room 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4348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Live ESI wait-time threshold bars, deterioration breach alerts, mass casualty surge toggle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539496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330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30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Governance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Immutable decision logs, physician override justifications, AI-clinician agreement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SOCIAL IMPACT &amp;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Saving Lives Through Equitable AI-Powered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SDG 3: Good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Reduce preventable ED deaths by 40% through AI-assisted triage. Zero missed critical patients (ESI-1 Recall: 100%).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09728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73152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62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Calibri"/>
              </a:defRPr>
            </a:pPr>
            <a:r>
              <a:t>SDG 9: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Multi-agent LangGraph architecture with XGBoost + NLP fusion. Runs offline on standard hospital infrastructure.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09728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SDG 10: Reduce Inequality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Age-stratified thresholds for Pediatric, Adult, and Geriatric populations. Equal access to expert triage in rural and urban clinics.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109728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73152" cy="10058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48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SDG 16: Institutions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Immutable audit trail, HIPAA-compliant clinician override logging, and algorithmic accountability framework.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Scaling PatientTriage.ai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" cy="10972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Phase 1 (Q1 2027)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Real EHR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65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Connect to HL7 FHIR / ABDM endpoints for live patient data ingestion from hospital EMR systems. Replace synthetic patients with real anonymized cohorts.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73152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62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38CA"/>
                </a:solidFill>
                <a:latin typeface="Calibri"/>
              </a:defRPr>
            </a:pPr>
            <a:r>
              <a:t>Phase 2 (Q2 2027)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62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MIMIC-IV-ED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Train and validate on MIMIC-IV-ED (PhysioNet) with 500,000+ real ED encounters. Publish peer-reviewed clinical validation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96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Phase 3 (Q3 2027)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434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Deploy in 3-5 Indian hospitals (government + private). Real-time A/B testing against human triage nurses. Measure impact on patient wait times and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1097280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30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Phase 4 (Q4 2027)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30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Regulatory &amp; Certification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669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Obtain CDSCO/FDA Class II SaMD certification. HIPAA + DPDPA compliance audit. ISO 13485 medical device quality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8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E8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DataForge_NITRourkela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E8FF"/>
                </a:solidFill>
                <a:latin typeface="Calibri"/>
              </a:defRPr>
            </a:pPr>
            <a:r>
              <a:t>Team Roll ID: 124ai0045  |  National Institute of Technology, Rourkela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Calibri"/>
              </a:defRPr>
            </a:pPr>
            <a:r>
              <a:t>Accenture Innovation Challenge 2026 | Problem Statement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3E8FF"/>
                </a:solidFill>
                <a:latin typeface="Calibri"/>
              </a:defRPr>
            </a:pPr>
            <a:r>
              <a:t>"Every patient deserves expert-level triage, regardless of hospital size, location, or staffing.</a:t>
            </a:r>
            <a:br/>
            <a:r>
              <a:t>PatientTriage.ai delivers that promise."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8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3E8FF"/>
                </a:solidFill>
                <a:latin typeface="Calibri"/>
              </a:defRPr>
            </a:pPr>
            <a:r>
              <a:t>PatientTriage.ai  |  DataForge_NITRourkela (124ai0045)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github.com/smit45-m/PatientTriage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Accenture Innovation Challenge 2026 | Problem Statement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